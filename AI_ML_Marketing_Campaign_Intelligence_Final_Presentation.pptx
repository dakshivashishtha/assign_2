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2651" y="2936557"/>
            <a:ext cx="7367658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rPr dirty="0"/>
              <a:t>AI/ML Marketing Campaign Intelligence</a:t>
            </a:r>
          </a:p>
          <a:p>
            <a:pPr algn="ctr">
              <a:defRPr sz="2400"/>
            </a:pPr>
            <a:r>
              <a:rPr dirty="0"/>
              <a:t>Final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Analyze historical marketing campaigns and identify performance patterns.</a:t>
            </a:r>
          </a:p>
          <a:p>
            <a:pPr>
              <a:spcAft>
                <a:spcPts val="1200"/>
              </a:spcAft>
              <a:defRPr sz="2000"/>
            </a:pPr>
            <a:r>
              <a:t>Predict campaign revenue and performance tiers.</a:t>
            </a:r>
          </a:p>
          <a:p>
            <a:pPr>
              <a:spcAft>
                <a:spcPts val="1200"/>
              </a:spcAft>
              <a:defRPr sz="2000"/>
            </a:pPr>
            <a:r>
              <a:t>Identify behavior-based audience segments.</a:t>
            </a:r>
          </a:p>
          <a:p>
            <a:pPr>
              <a:spcAft>
                <a:spcPts val="1200"/>
              </a:spcAft>
              <a:defRPr sz="2000"/>
            </a:pPr>
            <a:r>
              <a:t>Detect unusual campaign behavior using statistical and ML methods.</a:t>
            </a:r>
          </a:p>
          <a:p>
            <a:pPr>
              <a:spcAft>
                <a:spcPts val="1200"/>
              </a:spcAft>
              <a:defRPr sz="2000"/>
            </a:pPr>
            <a:r>
              <a:t>Convert model outputs into actionable marketing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dirty="0"/>
              <a:t>Marketing Dataset </a:t>
            </a:r>
            <a:r>
              <a:rPr lang="en-US" dirty="0"/>
              <a:t>-&gt; </a:t>
            </a:r>
            <a:r>
              <a:rPr dirty="0"/>
              <a:t>Data Cleaning </a:t>
            </a:r>
            <a:r>
              <a:rPr lang="en-US" dirty="0"/>
              <a:t>-&gt; </a:t>
            </a:r>
            <a:r>
              <a:rPr dirty="0"/>
              <a:t>EDA </a:t>
            </a:r>
            <a:r>
              <a:rPr lang="en-US" dirty="0"/>
              <a:t>-&gt;</a:t>
            </a:r>
            <a:r>
              <a:rPr dirty="0"/>
              <a:t> KPI Calculation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Feature Engineering </a:t>
            </a:r>
            <a:r>
              <a:rPr lang="en-US" dirty="0"/>
              <a:t>-&gt;</a:t>
            </a:r>
            <a:r>
              <a:rPr dirty="0"/>
              <a:t> Model Development </a:t>
            </a:r>
            <a:r>
              <a:rPr lang="en-US" dirty="0"/>
              <a:t>-&gt;</a:t>
            </a:r>
            <a:r>
              <a:rPr dirty="0"/>
              <a:t> Evaluation &amp; Optimization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Revenue Prediction </a:t>
            </a:r>
            <a:r>
              <a:rPr lang="en-US" dirty="0"/>
              <a:t>-&gt;</a:t>
            </a:r>
            <a:r>
              <a:rPr dirty="0"/>
              <a:t> Performance Classification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Audience Segmentation </a:t>
            </a:r>
            <a:r>
              <a:rPr lang="en-US" dirty="0"/>
              <a:t>-&gt;</a:t>
            </a:r>
            <a:r>
              <a:rPr dirty="0"/>
              <a:t> Anomaly Detection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Final Prediction </a:t>
            </a:r>
            <a:r>
              <a:rPr lang="en-US" dirty="0"/>
              <a:t>-&gt; </a:t>
            </a:r>
            <a:r>
              <a:rPr dirty="0"/>
              <a:t>Marketing Insight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KPIs &amp; Feature Engineering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11155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Clicks / Impressions ×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Engagement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Conversion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Conversions / Clicks ×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Funnel efficiency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Spend / Clicks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Click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Spend / Conversions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Acquisition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ROAS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Revenue / 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Advertising return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ML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Revenue Prediction — supervised regression; final model saved as best_regressor_revenue.joblib.</a:t>
            </a:r>
          </a:p>
          <a:p>
            <a:pPr>
              <a:spcAft>
                <a:spcPts val="1200"/>
              </a:spcAft>
              <a:defRPr sz="1900"/>
            </a:pPr>
            <a:r>
              <a:t>Performance Classification — Low / Medium / High; final classifier and label encoder saved as joblib artifacts.</a:t>
            </a:r>
          </a:p>
          <a:p>
            <a:pPr>
              <a:spcAft>
                <a:spcPts val="1200"/>
              </a:spcAft>
              <a:defRPr sz="1900"/>
            </a:pPr>
            <a:r>
              <a:t>Audience Segmentation — K-Means clustering.</a:t>
            </a:r>
          </a:p>
          <a:p>
            <a:pPr>
              <a:spcAft>
                <a:spcPts val="1200"/>
              </a:spcAft>
              <a:defRPr sz="1900"/>
            </a:pPr>
            <a:r>
              <a:t>Anomaly Detection — Isolation Forest + robust statistical anomaly detection.</a:t>
            </a:r>
          </a:p>
          <a:p>
            <a:pPr>
              <a:spcAft>
                <a:spcPts val="1200"/>
              </a:spcAft>
              <a:defRPr sz="1900"/>
            </a:pPr>
            <a:r>
              <a:t>All four components are integrated into one reusable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Audience Segmentation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11155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444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Interpretation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Count in final demo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Highly Engaged Audience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Strong engagement 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dirty="0"/>
                        <a:t>High Conversion Audience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Strong conversion 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dirty="0"/>
                        <a:t>Potential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Room for further conversion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dirty="0"/>
              <a:t>Isolation Forest captures unusual multivariate combinations.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Robust statistical detection captures extreme metric behavior.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Both methods are combined into confidence levels.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Training-data analysis: 7,139 flagged by both methods; 2,052 statistical</a:t>
            </a:r>
            <a:r>
              <a:rPr lang="en-US" dirty="0"/>
              <a:t> </a:t>
            </a:r>
            <a:r>
              <a:rPr dirty="0"/>
              <a:t>only</a:t>
            </a:r>
            <a:r>
              <a:rPr lang="en-US" dirty="0"/>
              <a:t>.</a:t>
            </a:r>
            <a:r>
              <a:rPr dirty="0"/>
              <a:t> 5,118 Isolation-Forest-only.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Final pipeline reports None, Medium (one method), or High (both methods).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Final 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dirty="0"/>
              <a:t>Input CSV</a:t>
            </a:r>
          </a:p>
          <a:p>
            <a:pPr>
              <a:spcAft>
                <a:spcPts val="1200"/>
              </a:spcAft>
              <a:defRPr sz="2000"/>
            </a:pPr>
            <a:r>
              <a:rPr lang="en-US" dirty="0"/>
              <a:t>*</a:t>
            </a:r>
            <a:r>
              <a:rPr dirty="0"/>
              <a:t> Validation + KPI / Feature Engineering</a:t>
            </a:r>
          </a:p>
          <a:p>
            <a:pPr>
              <a:spcAft>
                <a:spcPts val="1200"/>
              </a:spcAft>
              <a:defRPr sz="2000"/>
            </a:pPr>
            <a:r>
              <a:rPr lang="en-US" dirty="0"/>
              <a:t>*</a:t>
            </a:r>
            <a:r>
              <a:rPr dirty="0"/>
              <a:t> Revenue Model</a:t>
            </a:r>
          </a:p>
          <a:p>
            <a:pPr>
              <a:spcAft>
                <a:spcPts val="1200"/>
              </a:spcAft>
              <a:defRPr sz="2000"/>
            </a:pPr>
            <a:r>
              <a:rPr lang="en-US" dirty="0"/>
              <a:t>*</a:t>
            </a:r>
            <a:r>
              <a:rPr dirty="0"/>
              <a:t> Performance Classifier</a:t>
            </a:r>
          </a:p>
          <a:p>
            <a:pPr>
              <a:spcAft>
                <a:spcPts val="1200"/>
              </a:spcAft>
              <a:defRPr sz="2000"/>
            </a:pPr>
            <a:r>
              <a:rPr lang="en-US" dirty="0"/>
              <a:t>*</a:t>
            </a:r>
            <a:r>
              <a:rPr dirty="0"/>
              <a:t> K-Means Audience Segment</a:t>
            </a:r>
          </a:p>
          <a:p>
            <a:pPr>
              <a:spcAft>
                <a:spcPts val="1200"/>
              </a:spcAft>
              <a:defRPr sz="2000"/>
            </a:pPr>
            <a:r>
              <a:rPr lang="en-US" dirty="0"/>
              <a:t>*</a:t>
            </a:r>
            <a:r>
              <a:rPr dirty="0"/>
              <a:t> Isolation Forest + Statistical Anomaly Detection</a:t>
            </a:r>
          </a:p>
          <a:p>
            <a:pPr>
              <a:spcAft>
                <a:spcPts val="1200"/>
              </a:spcAft>
              <a:defRPr sz="2000"/>
            </a:pPr>
            <a:r>
              <a:rPr lang="en-US" dirty="0"/>
              <a:t>*</a:t>
            </a:r>
            <a:r>
              <a:rPr dirty="0"/>
              <a:t> Marketing Insight + Scored 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Final New-Campaign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11155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defRPr sz="1150" b="1"/>
                      </a:pPr>
                      <a:r>
                        <a:t>Campaign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/>
                      </a:pPr>
                      <a:r>
                        <a:t>Pred.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/>
                      </a:pPr>
                      <a:r>
                        <a:t>Pred.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/>
                      </a:pPr>
                      <a:r>
                        <a:t>Actual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/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1"/>
                      </a:pPr>
                      <a:r>
                        <a:t>Anomaly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NY-CMP-1000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₹1,166,929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High Performing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High Performing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Highly Engaged Audience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Medium (one method)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NY-CMP-1001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₹680,028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Medium Performing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High Performing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High Conversion Audience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Medium (one method)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NY-CMP-1002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₹387,344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High Performing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Medium Performing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Highly Engaged Audience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Medium (one method)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NY-CMP-1003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₹466,775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Medium Performing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Medium Performing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Potential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nan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NY-CMP-1004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₹630,924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Medium Performing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Medium Performing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High Conversion Audience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nan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Key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5/5 campaigns were fully scored by all models.</a:t>
            </a:r>
          </a:p>
          <a:p>
            <a:pPr>
              <a:spcAft>
                <a:spcPts val="1200"/>
              </a:spcAft>
              <a:defRPr sz="1900"/>
            </a:pPr>
            <a:r>
              <a:t>Predicted tiers: 2 High Performing, 3 Medium Performing.</a:t>
            </a:r>
          </a:p>
          <a:p>
            <a:pPr>
              <a:spcAft>
                <a:spcPts val="1200"/>
              </a:spcAft>
              <a:defRPr sz="1900"/>
            </a:pPr>
            <a:r>
              <a:t>Audience segments: 2 Highly Engaged, 2 High Conversion, 1 Potential Customer.</a:t>
            </a:r>
          </a:p>
          <a:p>
            <a:pPr>
              <a:spcAft>
                <a:spcPts val="1200"/>
              </a:spcAft>
              <a:defRPr sz="1900"/>
            </a:pPr>
            <a:r>
              <a:t>Estimated total predicted revenue: ₹3,332,000.</a:t>
            </a:r>
          </a:p>
          <a:p>
            <a:pPr>
              <a:spcAft>
                <a:spcPts val="1200"/>
              </a:spcAft>
              <a:defRPr sz="1900"/>
            </a:pPr>
            <a:r>
              <a:t>Anomaly result: 3 Medium (one method), 2 None.</a:t>
            </a:r>
          </a:p>
          <a:p>
            <a:pPr>
              <a:spcAft>
                <a:spcPts val="1200"/>
              </a:spcAft>
              <a:defRPr sz="1900"/>
            </a:pPr>
            <a:r>
              <a:t>Predicted tier matched actual ROAS-based tier for 60% of the 5 demonstration campaigns.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Marketing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rPr dirty="0"/>
              <a:t>NY-CMP-1000: strongest campaign; High predicted + High actual tie</a:t>
            </a:r>
            <a:r>
              <a:rPr lang="en-US" dirty="0"/>
              <a:t>r -&gt; </a:t>
            </a:r>
            <a:r>
              <a:rPr dirty="0"/>
              <a:t>candidate for controlled scaling.</a:t>
            </a:r>
          </a:p>
          <a:p>
            <a:pPr>
              <a:spcAft>
                <a:spcPts val="1200"/>
              </a:spcAft>
              <a:defRPr sz="1700"/>
            </a:pPr>
            <a:r>
              <a:rPr dirty="0"/>
              <a:t>NY-CMP-1001: predicted Medium but actual High </a:t>
            </a:r>
            <a:r>
              <a:rPr lang="en-US" dirty="0"/>
              <a:t>-&gt;</a:t>
            </a:r>
            <a:r>
              <a:rPr dirty="0"/>
              <a:t> investigate positive campaign characteristics.</a:t>
            </a:r>
          </a:p>
          <a:p>
            <a:pPr>
              <a:spcAft>
                <a:spcPts val="1200"/>
              </a:spcAft>
              <a:defRPr sz="1700"/>
            </a:pPr>
            <a:r>
              <a:rPr dirty="0"/>
              <a:t>NY-CMP-1002: predicted High but actual Medium + anomaly </a:t>
            </a:r>
            <a:r>
              <a:rPr lang="en-US" dirty="0"/>
              <a:t>-&gt;</a:t>
            </a:r>
            <a:r>
              <a:rPr dirty="0"/>
              <a:t> investigate before scaling.</a:t>
            </a:r>
          </a:p>
          <a:p>
            <a:pPr>
              <a:spcAft>
                <a:spcPts val="1200"/>
              </a:spcAft>
              <a:defRPr sz="1700"/>
            </a:pPr>
            <a:r>
              <a:rPr dirty="0"/>
              <a:t>NY-CMP-1003: Medium-to-Medium + Potential Customers </a:t>
            </a:r>
            <a:r>
              <a:rPr lang="en-US" dirty="0"/>
              <a:t>-&gt;</a:t>
            </a:r>
            <a:r>
              <a:rPr dirty="0"/>
              <a:t> nurture and optimize funnel.</a:t>
            </a:r>
          </a:p>
          <a:p>
            <a:pPr>
              <a:spcAft>
                <a:spcPts val="1200"/>
              </a:spcAft>
              <a:defRPr sz="1700"/>
            </a:pPr>
            <a:r>
              <a:rPr dirty="0"/>
              <a:t>NY-CMP-1004: Medium-to-Medium + High Conversion Audience </a:t>
            </a:r>
            <a:r>
              <a:rPr lang="en-US" dirty="0"/>
              <a:t>-&gt;</a:t>
            </a:r>
            <a:r>
              <a:rPr dirty="0"/>
              <a:t> focus on conversion-oriented optimization.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Conclusion &amp;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End-to-end AI/ML Marketing Campaign Intelligence system completed.</a:t>
            </a:r>
          </a:p>
          <a:p>
            <a:pPr>
              <a:spcAft>
                <a:spcPts val="1200"/>
              </a:spcAft>
              <a:defRPr sz="1800"/>
            </a:pPr>
            <a:r>
              <a:t>Combines prediction, classification, segmentation and anomaly detection.</a:t>
            </a:r>
          </a:p>
          <a:p>
            <a:pPr>
              <a:spcAft>
                <a:spcPts val="1200"/>
              </a:spcAft>
              <a:defRPr sz="1800"/>
            </a:pPr>
            <a:r>
              <a:t>Reusable pipeline processes new campaign CSVs and generates business-readable outputs.</a:t>
            </a:r>
          </a:p>
          <a:p>
            <a:pPr>
              <a:spcAft>
                <a:spcPts val="1200"/>
              </a:spcAft>
              <a:defRPr sz="1800"/>
            </a:pPr>
            <a:r>
              <a:t>Models are persisted as joblib artifacts and integrated in src/marketing_campaign_pipeline.py.</a:t>
            </a:r>
          </a:p>
          <a:p>
            <a:pPr>
              <a:spcAft>
                <a:spcPts val="1200"/>
              </a:spcAft>
              <a:defRPr sz="1800"/>
            </a:pPr>
            <a:r>
              <a:t>Final deliverables: notebooks, cleaned/features data, trained models, pipeline, scored campaigns, report and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637</Words>
  <Application>Microsoft Office PowerPoint</Application>
  <PresentationFormat>Widescreen</PresentationFormat>
  <Paragraphs>122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Dakshi Vashishtha</cp:lastModifiedBy>
  <cp:revision>2</cp:revision>
  <dcterms:created xsi:type="dcterms:W3CDTF">2013-01-27T09:14:16Z</dcterms:created>
  <dcterms:modified xsi:type="dcterms:W3CDTF">2026-10-05T04:56:14Z</dcterms:modified>
  <cp:category/>
</cp:coreProperties>
</file>